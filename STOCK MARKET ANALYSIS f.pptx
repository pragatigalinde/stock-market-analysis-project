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iya\Downloads\synthetic_stock_data%20(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[synthetic_stock_data (2).xlsx]Sheet7!PivotTable4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779209417004692E-2"/>
          <c:y val="0.17995264404104183"/>
          <c:w val="0.94433190169410641"/>
          <c:h val="0.694091442989515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Sheet7!$H$7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Sheet7!$G$8:$G$28</c:f>
              <c:multiLvlStrCache>
                <c:ptCount val="15"/>
                <c:lvl>
                  <c:pt idx="0">
                    <c:v>BUY</c:v>
                  </c:pt>
                  <c:pt idx="1">
                    <c:v>NEUTRAL</c:v>
                  </c:pt>
                  <c:pt idx="2">
                    <c:v>SELL</c:v>
                  </c:pt>
                  <c:pt idx="3">
                    <c:v>BUY</c:v>
                  </c:pt>
                  <c:pt idx="4">
                    <c:v>NEUTRAL</c:v>
                  </c:pt>
                  <c:pt idx="5">
                    <c:v>SELL</c:v>
                  </c:pt>
                  <c:pt idx="6">
                    <c:v>BUY</c:v>
                  </c:pt>
                  <c:pt idx="7">
                    <c:v>NEUTRAL</c:v>
                  </c:pt>
                  <c:pt idx="8">
                    <c:v>SELL</c:v>
                  </c:pt>
                  <c:pt idx="9">
                    <c:v>BUY</c:v>
                  </c:pt>
                  <c:pt idx="10">
                    <c:v>NEUTRAL</c:v>
                  </c:pt>
                  <c:pt idx="11">
                    <c:v>SELL</c:v>
                  </c:pt>
                  <c:pt idx="12">
                    <c:v>BUY</c:v>
                  </c:pt>
                  <c:pt idx="13">
                    <c:v>NEUTRAL</c:v>
                  </c:pt>
                  <c:pt idx="14">
                    <c:v>SELL</c:v>
                  </c:pt>
                </c:lvl>
                <c:lvl>
                  <c:pt idx="0">
                    <c:v>AAPL</c:v>
                  </c:pt>
                  <c:pt idx="3">
                    <c:v>AMZN</c:v>
                  </c:pt>
                  <c:pt idx="6">
                    <c:v>FB</c:v>
                  </c:pt>
                  <c:pt idx="9">
                    <c:v>GOOGL</c:v>
                  </c:pt>
                  <c:pt idx="12">
                    <c:v>MSFT</c:v>
                  </c:pt>
                </c:lvl>
              </c:multiLvlStrCache>
            </c:multiLvlStrRef>
          </c:cat>
          <c:val>
            <c:numRef>
              <c:f>Sheet7!$H$8:$H$28</c:f>
              <c:numCache>
                <c:formatCode>General</c:formatCode>
                <c:ptCount val="15"/>
                <c:pt idx="0">
                  <c:v>1854</c:v>
                </c:pt>
                <c:pt idx="1">
                  <c:v>8061</c:v>
                </c:pt>
                <c:pt idx="2">
                  <c:v>122</c:v>
                </c:pt>
                <c:pt idx="3">
                  <c:v>1865</c:v>
                </c:pt>
                <c:pt idx="4">
                  <c:v>7912</c:v>
                </c:pt>
                <c:pt idx="5">
                  <c:v>111</c:v>
                </c:pt>
                <c:pt idx="6">
                  <c:v>1860</c:v>
                </c:pt>
                <c:pt idx="7">
                  <c:v>8006</c:v>
                </c:pt>
                <c:pt idx="8">
                  <c:v>137</c:v>
                </c:pt>
                <c:pt idx="9">
                  <c:v>1912</c:v>
                </c:pt>
                <c:pt idx="10">
                  <c:v>8016</c:v>
                </c:pt>
                <c:pt idx="11">
                  <c:v>121</c:v>
                </c:pt>
                <c:pt idx="12">
                  <c:v>1904</c:v>
                </c:pt>
                <c:pt idx="13">
                  <c:v>7996</c:v>
                </c:pt>
                <c:pt idx="14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EC-4AB3-8617-D6CDC196223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52110336"/>
        <c:axId val="952106016"/>
      </c:barChart>
      <c:catAx>
        <c:axId val="952110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106016"/>
        <c:crosses val="autoZero"/>
        <c:auto val="1"/>
        <c:lblAlgn val="ctr"/>
        <c:lblOffset val="100"/>
        <c:noMultiLvlLbl val="0"/>
      </c:catAx>
      <c:valAx>
        <c:axId val="9521060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11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010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67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82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93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46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05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65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07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50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033949-E4E8-492F-8DBD-358587F0902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107AC30-B155-4848-9FE0-F5A5134AC15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59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5DB7F-C750-8A76-FE04-496130E0F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Colonna MT" panose="04020805060202030203" pitchFamily="82" charset="0"/>
              </a:rPr>
              <a:t>STOCK MARKET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AC225-0814-5529-E3FF-D32EBBC6B6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								</a:t>
            </a:r>
            <a:endParaRPr lang="en-IN" dirty="0"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2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6519-F2C1-113C-C58E-71BDA48D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tellar" panose="020A0402060406010301" pitchFamily="18" charset="0"/>
              </a:rPr>
              <a:t>PRESENTED BY </a:t>
            </a:r>
            <a:endParaRPr lang="en-IN" dirty="0">
              <a:latin typeface="Castellar" panose="020A0402060406010301" pitchFamily="18" charset="0"/>
            </a:endParaRPr>
          </a:p>
        </p:txBody>
      </p:sp>
      <p:pic>
        <p:nvPicPr>
          <p:cNvPr id="1026" name="Picture 2" descr="ExcelR - YouTube">
            <a:extLst>
              <a:ext uri="{FF2B5EF4-FFF2-40B4-BE49-F238E27FC236}">
                <a16:creationId xmlns:a16="http://schemas.microsoft.com/office/drawing/2014/main" id="{88D55EF3-7375-8F40-7C24-22C1100A59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42" y="1690688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B58F12-C148-2897-9F2E-007FF11816E6}"/>
              </a:ext>
            </a:extLst>
          </p:cNvPr>
          <p:cNvSpPr txBox="1"/>
          <p:nvPr/>
        </p:nvSpPr>
        <p:spPr>
          <a:xfrm>
            <a:off x="6096000" y="2311685"/>
            <a:ext cx="5493249" cy="57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stellar" panose="020A0402060406010301" pitchFamily="18" charset="0"/>
              </a:rPr>
              <a:t>Pragati </a:t>
            </a:r>
            <a:r>
              <a:rPr lang="en-US" dirty="0" err="1">
                <a:latin typeface="Castellar" panose="020A0402060406010301" pitchFamily="18" charset="0"/>
              </a:rPr>
              <a:t>galinde</a:t>
            </a:r>
            <a:endParaRPr lang="en-US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32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FA21-5B88-0D63-8E3F-FB71096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tellar" panose="020A0402060406010301" pitchFamily="18" charset="0"/>
              </a:rPr>
              <a:t>PROJECT SUMMARY</a:t>
            </a:r>
            <a:endParaRPr lang="en-IN" dirty="0">
              <a:latin typeface="Castellar" panose="020A0402060406010301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5175C-65DB-7E2D-5670-A6BAD4616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the data to uncover patterns, correlations, and insights. This may involve statistical analysis, visualization techniques, and time series analysis to understand the behavior of stocks and market trends.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</a:rPr>
              <a:t>The goal was to draw insights to make decision regarding the stock purchases, sales and holdings.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stock market data was analyzed using Excel, PowerBI, Tableau and MySQL.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90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8C2E-7A3E-1F66-5313-C8369DD50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stellar" panose="020A0402060406010301" pitchFamily="18" charset="0"/>
              </a:rPr>
              <a:t>OBJECTIVE OF STOCK MARKET ANALYSIS</a:t>
            </a:r>
            <a:endParaRPr lang="en-IN" sz="3200" dirty="0">
              <a:latin typeface="Castellar" panose="020A0402060406010301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9DFC-FF5F-EA89-ED93-C0D56340D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Daily Trading Volume.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Most volatile Stock.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Stocks with Highest Dividend and Lowest Dividend.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Highest and Lowest P/E Ratio.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Stock with Highest Market Cap.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Stock near 52 week high and 52 week low.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05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9CFD-FE2D-9C1A-B872-6E2666A7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EXCEL DASHBOARD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95A586B-BB1F-565A-2136-02BBB9227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7989" y="78658"/>
            <a:ext cx="8556024" cy="617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5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071A-7F52-DC64-8D43-309B2151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POWERBI DASHBOARD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ED45B2F-251E-FE08-F340-D0BD31A63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9948" y="98323"/>
            <a:ext cx="8563897" cy="6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45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3A5E-EF84-5CB2-8932-A1546707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TABLEAU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39C7A9-AB2E-408A-E5DF-891DAD7BE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" b="3227"/>
          <a:stretch/>
        </p:blipFill>
        <p:spPr>
          <a:xfrm>
            <a:off x="3519948" y="88491"/>
            <a:ext cx="8603226" cy="619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1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D216-BBDF-D63C-9A34-1C254F5BD0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-833540"/>
            <a:ext cx="10058400" cy="1449387"/>
          </a:xfrm>
        </p:spPr>
        <p:txBody>
          <a:bodyPr/>
          <a:lstStyle/>
          <a:p>
            <a:pPr algn="ctr"/>
            <a:r>
              <a:rPr lang="en-IN" sz="3200" dirty="0">
                <a:latin typeface="Castellar" panose="020A0402060406010301" pitchFamily="18" charset="0"/>
              </a:rPr>
              <a:t>KEY TAKE AWAY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E98FC0-C1F6-7940-C2E5-68B3F39518D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60643462"/>
              </p:ext>
            </p:extLst>
          </p:nvPr>
        </p:nvGraphicFramePr>
        <p:xfrm>
          <a:off x="1268361" y="2462777"/>
          <a:ext cx="10058400" cy="3554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8D4E8A-F11E-AE50-D1FD-1BF6170EAD9B}"/>
              </a:ext>
            </a:extLst>
          </p:cNvPr>
          <p:cNvSpPr txBox="1"/>
          <p:nvPr/>
        </p:nvSpPr>
        <p:spPr>
          <a:xfrm>
            <a:off x="1268361" y="894736"/>
            <a:ext cx="105106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draw insights regarding stock purchases sales and holdings, following aspects has been covered:-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Beta to check volatility of stock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 Ratio to check growth of stock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MACD And RSI to generate Buying and selling signal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lvl="1"/>
            <a:r>
              <a:rPr lang="en-IN" b="1" dirty="0"/>
              <a:t>Below chart represent the Buying and Selling recommendations on the basis of MACD and RSI</a:t>
            </a:r>
          </a:p>
        </p:txBody>
      </p:sp>
    </p:spTree>
    <p:extLst>
      <p:ext uri="{BB962C8B-B14F-4D97-AF65-F5344CB8AC3E}">
        <p14:creationId xmlns:p14="http://schemas.microsoft.com/office/powerpoint/2010/main" val="37221594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</TotalTime>
  <Words>193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Castellar</vt:lpstr>
      <vt:lpstr>Colonna MT</vt:lpstr>
      <vt:lpstr>Wingdings</vt:lpstr>
      <vt:lpstr>Retrospect</vt:lpstr>
      <vt:lpstr>STOCK MARKET ANALYSIS</vt:lpstr>
      <vt:lpstr>PRESENTED BY </vt:lpstr>
      <vt:lpstr>PROJECT SUMMARY</vt:lpstr>
      <vt:lpstr>OBJECTIVE OF STOCK MARKET ANALYSIS</vt:lpstr>
      <vt:lpstr>EXCEL DASHBOARD</vt:lpstr>
      <vt:lpstr>POWERBI DASHBOARD</vt:lpstr>
      <vt:lpstr>TABLEAU DASHBOARD</vt:lpstr>
      <vt:lpstr>KEY TAKE 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uttam guptha</dc:creator>
  <cp:lastModifiedBy>Pragati Galinde</cp:lastModifiedBy>
  <cp:revision>9</cp:revision>
  <dcterms:created xsi:type="dcterms:W3CDTF">2024-06-07T10:11:15Z</dcterms:created>
  <dcterms:modified xsi:type="dcterms:W3CDTF">2026-01-11T10:56:02Z</dcterms:modified>
</cp:coreProperties>
</file>